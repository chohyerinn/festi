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27EF89-E037-4C14-80BA-5A48F429B161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Naver Cloud 서버 아키텍처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7FC6C12-ADD1-40A3-905A-86A5F11FFB19}"/>
              </a:ext>
            </a:extLst>
          </p:cNvPr>
          <p:cNvSpPr>
            <a:spLocks noGrp="1"/>
          </p:cNvSpPr>
          <p:nvPr/>
        </p:nvSpPr>
        <p:spPr>
          <a:xfrm>
            <a:off x="533400" y="7620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Public Load Balancer + 이중 Web Server + Cloud DB for MySQL</a:t>
            </a:r>
          </a:p>
        </p:txBody>
      </p:sp>
      <p:sp>
        <p:nvSpPr>
          <p:cNvPr id="3" name="badge">
            <a:extLst>
              <a:ext uri="{FF2B5EF4-FFF2-40B4-BE49-F238E27FC236}">
                <a16:creationId xmlns:a16="http://schemas.microsoft.com/office/drawing/2014/main" id="{9C7BF3BE-BFC4-45F8-9811-9CB9E557D5E0}"/>
              </a:ext>
            </a:extLst>
          </p:cNvPr>
          <p:cNvSpPr>
            <a:spLocks noGrp="1"/>
          </p:cNvSpPr>
          <p:nvPr/>
        </p:nvSpPr>
        <p:spPr>
          <a:xfrm>
            <a:off x="9620250" y="40005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11430">
            <a:solidFill>
              <a:srgbClr val="B8D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485E92-73AD-4CE7-A20E-52834A3D8DC8}"/>
              </a:ext>
            </a:extLst>
          </p:cNvPr>
          <p:cNvSpPr>
            <a:spLocks noGrp="1"/>
          </p:cNvSpPr>
          <p:nvPr/>
        </p:nvSpPr>
        <p:spPr>
          <a:xfrm>
            <a:off x="9763125" y="495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62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2B4"/>
                </a:solidFill>
                <a:latin typeface="Aptos"/>
                <a:ea typeface="Aptos"/>
                <a:cs typeface="Aptos"/>
              </a:rPr>
              <a:t>2-Tier 확장 구조</a:t>
            </a:r>
          </a:p>
        </p:txBody>
      </p:sp>
      <p:sp>
        <p:nvSpPr>
          <p:cNvPr id="5" name="vpc-boundary">
            <a:extLst>
              <a:ext uri="{FF2B5EF4-FFF2-40B4-BE49-F238E27FC236}">
                <a16:creationId xmlns:a16="http://schemas.microsoft.com/office/drawing/2014/main" id="{402B46C5-C914-48EF-8209-75D11BE7637C}"/>
              </a:ext>
            </a:extLst>
          </p:cNvPr>
          <p:cNvSpPr>
            <a:spLocks noGrp="1"/>
          </p:cNvSpPr>
          <p:nvPr/>
        </p:nvSpPr>
        <p:spPr>
          <a:xfrm>
            <a:off x="476250" y="1200150"/>
            <a:ext cx="11239500" cy="49530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9CC6E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9E2E5C-4D21-4EAE-A527-ADC3D3F108B3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461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46179"/>
                </a:solidFill>
                <a:latin typeface="Aptos"/>
                <a:ea typeface="Aptos"/>
                <a:cs typeface="Aptos"/>
              </a:rPr>
              <a:t>VPC project  |  10.10.0.0/16  |  KR-1</a:t>
            </a:r>
          </a:p>
        </p:txBody>
      </p:sp>
      <p:sp>
        <p:nvSpPr>
          <p:cNvPr id="7" name="public-lb-subnet">
            <a:extLst>
              <a:ext uri="{FF2B5EF4-FFF2-40B4-BE49-F238E27FC236}">
                <a16:creationId xmlns:a16="http://schemas.microsoft.com/office/drawing/2014/main" id="{26E77C13-72B5-4280-B3E6-E8BB73BA3942}"/>
              </a:ext>
            </a:extLst>
          </p:cNvPr>
          <p:cNvSpPr>
            <a:spLocks noGrp="1"/>
          </p:cNvSpPr>
          <p:nvPr/>
        </p:nvSpPr>
        <p:spPr>
          <a:xfrm>
            <a:off x="842282" y="1918607"/>
            <a:ext cx="2667000" cy="3028950"/>
          </a:xfrm>
          <a:prstGeom prst="roundRect">
            <a:avLst>
              <a:gd name="adj" fmla="val 4286"/>
            </a:avLst>
          </a:prstGeom>
          <a:solidFill>
            <a:srgbClr val="F0F8FF"/>
          </a:solidFill>
          <a:ln w="11430">
            <a:solidFill>
              <a:srgbClr val="B8D9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408DB4-A356-4965-9815-A1EA8D97F078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2324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85D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5D8B"/>
                </a:solidFill>
                <a:latin typeface="Aptos"/>
                <a:ea typeface="Aptos"/>
                <a:cs typeface="Aptos"/>
              </a:rPr>
              <a:t>public-lb-subnet</a:t>
            </a:r>
          </a:p>
          <a:p>
            <a:pPr algn="ctr">
              <a:defRPr sz="1200" b="1">
                <a:solidFill>
                  <a:srgbClr val="285D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5D8B"/>
                </a:solidFill>
                <a:latin typeface="Aptos"/>
                <a:ea typeface="Aptos"/>
                <a:cs typeface="Aptos"/>
              </a:rPr>
              <a:t>10.10.1.0/24</a:t>
            </a:r>
          </a:p>
        </p:txBody>
      </p:sp>
      <p:sp>
        <p:nvSpPr>
          <p:cNvPr id="9" name="public-web-subnet">
            <a:extLst>
              <a:ext uri="{FF2B5EF4-FFF2-40B4-BE49-F238E27FC236}">
                <a16:creationId xmlns:a16="http://schemas.microsoft.com/office/drawing/2014/main" id="{8A0DD228-811D-4018-BE3B-81217D1AE0C5}"/>
              </a:ext>
            </a:extLst>
          </p:cNvPr>
          <p:cNvSpPr>
            <a:spLocks noGrp="1"/>
          </p:cNvSpPr>
          <p:nvPr/>
        </p:nvSpPr>
        <p:spPr>
          <a:xfrm>
            <a:off x="4057650" y="1790700"/>
            <a:ext cx="3810000" cy="3028950"/>
          </a:xfrm>
          <a:prstGeom prst="roundRect">
            <a:avLst>
              <a:gd name="adj" fmla="val 3774"/>
            </a:avLst>
          </a:prstGeom>
          <a:solidFill>
            <a:srgbClr val="F4FBF7"/>
          </a:solidFill>
          <a:ln w="11430">
            <a:solidFill>
              <a:srgbClr val="BFE5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A34575-DEDF-4D0C-B0E5-27D5AF96A1FD}"/>
              </a:ext>
            </a:extLst>
          </p:cNvPr>
          <p:cNvSpPr>
            <a:spLocks noGrp="1"/>
          </p:cNvSpPr>
          <p:nvPr/>
        </p:nvSpPr>
        <p:spPr>
          <a:xfrm>
            <a:off x="4286250" y="1924050"/>
            <a:ext cx="335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C6C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C6C4B"/>
                </a:solidFill>
                <a:latin typeface="Aptos"/>
                <a:ea typeface="Aptos"/>
                <a:cs typeface="Aptos"/>
              </a:rPr>
              <a:t>public-web-subnet</a:t>
            </a:r>
          </a:p>
          <a:p>
            <a:pPr algn="ctr">
              <a:defRPr sz="1200" b="1">
                <a:solidFill>
                  <a:srgbClr val="2C6C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C6C4B"/>
                </a:solidFill>
                <a:latin typeface="Aptos"/>
                <a:ea typeface="Aptos"/>
                <a:cs typeface="Aptos"/>
              </a:rPr>
              <a:t>10.10.4.0/24</a:t>
            </a:r>
          </a:p>
        </p:txBody>
      </p:sp>
      <p:sp>
        <p:nvSpPr>
          <p:cNvPr id="11" name="private-db-subnet">
            <a:extLst>
              <a:ext uri="{FF2B5EF4-FFF2-40B4-BE49-F238E27FC236}">
                <a16:creationId xmlns:a16="http://schemas.microsoft.com/office/drawing/2014/main" id="{69E0611A-3D22-4E7B-8628-8C963D3573BA}"/>
              </a:ext>
            </a:extLst>
          </p:cNvPr>
          <p:cNvSpPr>
            <a:spLocks noGrp="1"/>
          </p:cNvSpPr>
          <p:nvPr/>
        </p:nvSpPr>
        <p:spPr>
          <a:xfrm>
            <a:off x="8439150" y="1790700"/>
            <a:ext cx="2667000" cy="3028950"/>
          </a:xfrm>
          <a:prstGeom prst="roundRect">
            <a:avLst>
              <a:gd name="adj" fmla="val 4286"/>
            </a:avLst>
          </a:prstGeom>
          <a:solidFill>
            <a:srgbClr val="FFF7EF"/>
          </a:solidFill>
          <a:ln w="11430">
            <a:solidFill>
              <a:srgbClr val="F3CF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A2C526-8F09-41BC-9540-435FC1264EAA}"/>
              </a:ext>
            </a:extLst>
          </p:cNvPr>
          <p:cNvSpPr>
            <a:spLocks noGrp="1"/>
          </p:cNvSpPr>
          <p:nvPr/>
        </p:nvSpPr>
        <p:spPr>
          <a:xfrm>
            <a:off x="8648700" y="1924050"/>
            <a:ext cx="2247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8A57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572D"/>
                </a:solidFill>
                <a:latin typeface="Aptos"/>
                <a:ea typeface="Aptos"/>
                <a:cs typeface="Aptos"/>
              </a:rPr>
              <a:t>private-db-subnet</a:t>
            </a:r>
          </a:p>
          <a:p>
            <a:pPr algn="ctr">
              <a:defRPr sz="1200" b="1">
                <a:solidFill>
                  <a:srgbClr val="8A57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572D"/>
                </a:solidFill>
                <a:latin typeface="Aptos"/>
                <a:ea typeface="Aptos"/>
                <a:cs typeface="Aptos"/>
              </a:rPr>
              <a:t>10.10.3.0/24</a:t>
            </a:r>
          </a:p>
        </p:txBody>
      </p:sp>
      <p:sp>
        <p:nvSpPr>
          <p:cNvPr id="13" name="users">
            <a:extLst>
              <a:ext uri="{FF2B5EF4-FFF2-40B4-BE49-F238E27FC236}">
                <a16:creationId xmlns:a16="http://schemas.microsoft.com/office/drawing/2014/main" id="{24A564A6-BFF3-4D81-8E9B-ADB6A8609178}"/>
              </a:ext>
            </a:extLst>
          </p:cNvPr>
          <p:cNvSpPr>
            <a:spLocks noGrp="1"/>
          </p:cNvSpPr>
          <p:nvPr/>
        </p:nvSpPr>
        <p:spPr>
          <a:xfrm>
            <a:off x="1181100" y="236220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B8D9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4" name="그림 6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2550" y="2438400"/>
            <a:ext cx="209550" cy="2095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04287B5-3DCC-42C8-BF79-B326ABA7CD6B}"/>
              </a:ext>
            </a:extLst>
          </p:cNvPr>
          <p:cNvSpPr>
            <a:spLocks noGrp="1"/>
          </p:cNvSpPr>
          <p:nvPr/>
        </p:nvSpPr>
        <p:spPr>
          <a:xfrm>
            <a:off x="1657350" y="2438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85D8B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285D8B"/>
                </a:solidFill>
                <a:latin typeface="Aptos"/>
                <a:ea typeface="Aptos"/>
                <a:cs typeface="Aptos"/>
              </a:rPr>
              <a:t>Users  |  </a:t>
            </a:r>
            <a:r>
              <a:rPr sz="900" b="1" dirty="0" err="1">
                <a:solidFill>
                  <a:srgbClr val="285D8B"/>
                </a:solidFill>
                <a:latin typeface="Aptos"/>
                <a:ea typeface="Aptos"/>
                <a:cs typeface="Aptos"/>
              </a:rPr>
              <a:t>브라우저</a:t>
            </a:r>
            <a:r>
              <a:rPr sz="900" b="1" dirty="0">
                <a:solidFill>
                  <a:srgbClr val="285D8B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1" dirty="0" err="1">
                <a:solidFill>
                  <a:srgbClr val="285D8B"/>
                </a:solidFill>
                <a:latin typeface="Aptos"/>
                <a:ea typeface="Aptos"/>
                <a:cs typeface="Aptos"/>
              </a:rPr>
              <a:t>접속</a:t>
            </a:r>
            <a:endParaRPr sz="900" b="1" dirty="0">
              <a:solidFill>
                <a:srgbClr val="285D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alb">
            <a:extLst>
              <a:ext uri="{FF2B5EF4-FFF2-40B4-BE49-F238E27FC236}">
                <a16:creationId xmlns:a16="http://schemas.microsoft.com/office/drawing/2014/main" id="{7FF55B44-AB26-42A9-A4DF-F6514D1D15E3}"/>
              </a:ext>
            </a:extLst>
          </p:cNvPr>
          <p:cNvSpPr>
            <a:spLocks noGrp="1"/>
          </p:cNvSpPr>
          <p:nvPr/>
        </p:nvSpPr>
        <p:spPr>
          <a:xfrm>
            <a:off x="1228725" y="3224893"/>
            <a:ext cx="19621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80BD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30779" y="3596368"/>
            <a:ext cx="419100" cy="4191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127841-5E78-4F1F-AC01-D023383D534F}"/>
              </a:ext>
            </a:extLst>
          </p:cNvPr>
          <p:cNvSpPr>
            <a:spLocks noGrp="1"/>
          </p:cNvSpPr>
          <p:nvPr/>
        </p:nvSpPr>
        <p:spPr>
          <a:xfrm>
            <a:off x="1866900" y="3752850"/>
            <a:ext cx="1066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Application Load Balancer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0E38F6-8703-4785-ACDF-161B5AB9AB1B}"/>
              </a:ext>
            </a:extLst>
          </p:cNvPr>
          <p:cNvSpPr>
            <a:spLocks noGrp="1"/>
          </p:cNvSpPr>
          <p:nvPr/>
        </p:nvSpPr>
        <p:spPr>
          <a:xfrm>
            <a:off x="1409700" y="3352800"/>
            <a:ext cx="1504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alb-project-web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FC52F9-E303-4D85-8013-9BFA69B8A312}"/>
              </a:ext>
            </a:extLst>
          </p:cNvPr>
          <p:cNvSpPr>
            <a:spLocks noGrp="1"/>
          </p:cNvSpPr>
          <p:nvPr/>
        </p:nvSpPr>
        <p:spPr>
          <a:xfrm>
            <a:off x="1409700" y="3562350"/>
            <a:ext cx="1504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HTTP :80</a:t>
            </a:r>
          </a:p>
        </p:txBody>
      </p:sp>
      <p:sp>
        <p:nvSpPr>
          <p:cNvPr id="21" name="web-01">
            <a:extLst>
              <a:ext uri="{FF2B5EF4-FFF2-40B4-BE49-F238E27FC236}">
                <a16:creationId xmlns:a16="http://schemas.microsoft.com/office/drawing/2014/main" id="{323A0787-6307-4BE5-A9D2-9A6D201A0721}"/>
              </a:ext>
            </a:extLst>
          </p:cNvPr>
          <p:cNvSpPr>
            <a:spLocks noGrp="1"/>
          </p:cNvSpPr>
          <p:nvPr/>
        </p:nvSpPr>
        <p:spPr>
          <a:xfrm>
            <a:off x="4438650" y="2533650"/>
            <a:ext cx="13335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9AD2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38675" y="2705100"/>
            <a:ext cx="361950" cy="36195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CDF866-A9E3-41B4-92F2-17FD87A699F0}"/>
              </a:ext>
            </a:extLst>
          </p:cNvPr>
          <p:cNvSpPr>
            <a:spLocks noGrp="1"/>
          </p:cNvSpPr>
          <p:nvPr/>
        </p:nvSpPr>
        <p:spPr>
          <a:xfrm>
            <a:off x="5067300" y="26860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513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F5137"/>
                </a:solidFill>
                <a:latin typeface="Aptos"/>
                <a:ea typeface="Aptos"/>
                <a:cs typeface="Aptos"/>
              </a:rPr>
              <a:t>web-01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BFCA871-9387-470A-843C-4FF64FCA481B}"/>
              </a:ext>
            </a:extLst>
          </p:cNvPr>
          <p:cNvSpPr>
            <a:spLocks noGrp="1"/>
          </p:cNvSpPr>
          <p:nvPr/>
        </p:nvSpPr>
        <p:spPr>
          <a:xfrm>
            <a:off x="4591050" y="3105150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F6F82"/>
                </a:solidFill>
                <a:latin typeface="Aptos"/>
                <a:ea typeface="Aptos"/>
                <a:cs typeface="Aptos"/>
              </a:rPr>
              <a:t>10.10.4.6</a:t>
            </a:r>
          </a:p>
          <a:p>
            <a:pPr algn="ctr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F6F82"/>
                </a:solidFill>
                <a:latin typeface="Aptos"/>
                <a:ea typeface="Aptos"/>
                <a:cs typeface="Aptos"/>
              </a:rPr>
              <a:t>Apache + PHP</a:t>
            </a:r>
          </a:p>
        </p:txBody>
      </p:sp>
      <p:sp>
        <p:nvSpPr>
          <p:cNvPr id="25" name="web-02">
            <a:extLst>
              <a:ext uri="{FF2B5EF4-FFF2-40B4-BE49-F238E27FC236}">
                <a16:creationId xmlns:a16="http://schemas.microsoft.com/office/drawing/2014/main" id="{BB6B1DC4-1BE5-44B4-94F9-E116F6ACC949}"/>
              </a:ext>
            </a:extLst>
          </p:cNvPr>
          <p:cNvSpPr>
            <a:spLocks noGrp="1"/>
          </p:cNvSpPr>
          <p:nvPr/>
        </p:nvSpPr>
        <p:spPr>
          <a:xfrm>
            <a:off x="6153150" y="2533650"/>
            <a:ext cx="13335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9AD2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6" name="그림 7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53175" y="2705100"/>
            <a:ext cx="361950" cy="36195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448C7F-18E8-4FCA-B299-5E42C67C1AA2}"/>
              </a:ext>
            </a:extLst>
          </p:cNvPr>
          <p:cNvSpPr>
            <a:spLocks noGrp="1"/>
          </p:cNvSpPr>
          <p:nvPr/>
        </p:nvSpPr>
        <p:spPr>
          <a:xfrm>
            <a:off x="6781800" y="26860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51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137"/>
                </a:solidFill>
                <a:latin typeface="Aptos"/>
                <a:ea typeface="Aptos"/>
                <a:cs typeface="Aptos"/>
              </a:rPr>
              <a:t>web-02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F8E181-688E-46B6-8F3A-E37D049B214A}"/>
              </a:ext>
            </a:extLst>
          </p:cNvPr>
          <p:cNvSpPr>
            <a:spLocks noGrp="1"/>
          </p:cNvSpPr>
          <p:nvPr/>
        </p:nvSpPr>
        <p:spPr>
          <a:xfrm>
            <a:off x="6305550" y="3105150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10.10.4.7</a:t>
            </a:r>
          </a:p>
          <a:p>
            <a:pPr algn="ctr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Apache + PHP</a:t>
            </a:r>
          </a:p>
        </p:txBody>
      </p:sp>
      <p:sp>
        <p:nvSpPr>
          <p:cNvPr id="29" name="target-group">
            <a:extLst>
              <a:ext uri="{FF2B5EF4-FFF2-40B4-BE49-F238E27FC236}">
                <a16:creationId xmlns:a16="http://schemas.microsoft.com/office/drawing/2014/main" id="{E18B167F-C3D9-4F08-9DDF-973B6C2EC6D7}"/>
              </a:ext>
            </a:extLst>
          </p:cNvPr>
          <p:cNvSpPr>
            <a:spLocks noGrp="1"/>
          </p:cNvSpPr>
          <p:nvPr/>
        </p:nvSpPr>
        <p:spPr>
          <a:xfrm>
            <a:off x="4686300" y="3829050"/>
            <a:ext cx="2552700" cy="533400"/>
          </a:xfrm>
          <a:prstGeom prst="roundRect">
            <a:avLst>
              <a:gd name="adj" fmla="val 14286"/>
            </a:avLst>
          </a:prstGeom>
          <a:solidFill>
            <a:srgbClr val="E9F8EF"/>
          </a:solidFill>
          <a:ln w="11430">
            <a:solidFill>
              <a:srgbClr val="A8DD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3A5ED3F-9B36-4CF3-A82C-8ABDAA548003}"/>
              </a:ext>
            </a:extLst>
          </p:cNvPr>
          <p:cNvSpPr>
            <a:spLocks noGrp="1"/>
          </p:cNvSpPr>
          <p:nvPr/>
        </p:nvSpPr>
        <p:spPr>
          <a:xfrm>
            <a:off x="4819650" y="39433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C6C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C6C4B"/>
                </a:solidFill>
                <a:latin typeface="Aptos"/>
                <a:ea typeface="Aptos"/>
                <a:cs typeface="Aptos"/>
              </a:rPr>
              <a:t>Target Group: tg-web-80</a:t>
            </a:r>
          </a:p>
          <a:p>
            <a:pPr algn="ctr">
              <a:defRPr sz="975" b="1">
                <a:solidFill>
                  <a:srgbClr val="2C6C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C6C4B"/>
                </a:solidFill>
                <a:latin typeface="Aptos"/>
                <a:ea typeface="Aptos"/>
                <a:cs typeface="Aptos"/>
              </a:rPr>
              <a:t>Health Check: /health.php</a:t>
            </a:r>
          </a:p>
        </p:txBody>
      </p:sp>
      <p:sp>
        <p:nvSpPr>
          <p:cNvPr id="31" name="cloud-db">
            <a:extLst>
              <a:ext uri="{FF2B5EF4-FFF2-40B4-BE49-F238E27FC236}">
                <a16:creationId xmlns:a16="http://schemas.microsoft.com/office/drawing/2014/main" id="{22C0B093-726B-4546-A5FA-178EDD208A1A}"/>
              </a:ext>
            </a:extLst>
          </p:cNvPr>
          <p:cNvSpPr>
            <a:spLocks noGrp="1"/>
          </p:cNvSpPr>
          <p:nvPr/>
        </p:nvSpPr>
        <p:spPr>
          <a:xfrm>
            <a:off x="8915400" y="2628900"/>
            <a:ext cx="17526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7B2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2" name="그림 8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124950" y="2897523"/>
            <a:ext cx="400050" cy="396203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4B93B4B2-0279-4B80-8710-542651419E26}"/>
              </a:ext>
            </a:extLst>
          </p:cNvPr>
          <p:cNvSpPr>
            <a:spLocks noGrp="1"/>
          </p:cNvSpPr>
          <p:nvPr/>
        </p:nvSpPr>
        <p:spPr>
          <a:xfrm>
            <a:off x="9620250" y="285750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421F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6D421F"/>
                </a:solidFill>
                <a:latin typeface="Aptos"/>
                <a:ea typeface="Aptos"/>
                <a:cs typeface="Aptos"/>
              </a:rPr>
              <a:t>Cloud DB for MySQL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9374BF4-FF97-4DAD-BBC8-D28D1E1E2E0E}"/>
              </a:ext>
            </a:extLst>
          </p:cNvPr>
          <p:cNvSpPr>
            <a:spLocks noGrp="1"/>
          </p:cNvSpPr>
          <p:nvPr/>
        </p:nvSpPr>
        <p:spPr>
          <a:xfrm>
            <a:off x="9124950" y="3429000"/>
            <a:ext cx="1314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projectDB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C1616B1-B392-4C43-B3D7-0E54117024BC}"/>
              </a:ext>
            </a:extLst>
          </p:cNvPr>
          <p:cNvSpPr>
            <a:spLocks noGrp="1"/>
          </p:cNvSpPr>
          <p:nvPr/>
        </p:nvSpPr>
        <p:spPr>
          <a:xfrm>
            <a:off x="9124950" y="3619500"/>
            <a:ext cx="1314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2"/>
                </a:solidFill>
                <a:latin typeface="Aptos"/>
                <a:ea typeface="Aptos"/>
                <a:cs typeface="Aptos"/>
              </a:rPr>
              <a:t>10.10.3.6 :3306</a:t>
            </a:r>
          </a:p>
        </p:txBody>
      </p:sp>
      <p:sp>
        <p:nvSpPr>
          <p:cNvPr id="36" name="security">
            <a:extLst>
              <a:ext uri="{FF2B5EF4-FFF2-40B4-BE49-F238E27FC236}">
                <a16:creationId xmlns:a16="http://schemas.microsoft.com/office/drawing/2014/main" id="{73A4FA37-311A-4EF6-BF9B-574EC9A6EED9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47434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28700" y="5124450"/>
            <a:ext cx="323850" cy="323850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74412D60-0317-45C3-B014-A85DC8F06810}"/>
              </a:ext>
            </a:extLst>
          </p:cNvPr>
          <p:cNvSpPr>
            <a:spLocks noGrp="1"/>
          </p:cNvSpPr>
          <p:nvPr/>
        </p:nvSpPr>
        <p:spPr>
          <a:xfrm>
            <a:off x="1447800" y="50673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633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3342"/>
                </a:solidFill>
                <a:latin typeface="Aptos"/>
                <a:ea typeface="Aptos"/>
                <a:cs typeface="Aptos"/>
              </a:rPr>
              <a:t>ACG 보안 규칙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DB80A0F-22A5-4496-8AB5-3A8FF74ECD59}"/>
              </a:ext>
            </a:extLst>
          </p:cNvPr>
          <p:cNvSpPr>
            <a:spLocks noGrp="1"/>
          </p:cNvSpPr>
          <p:nvPr/>
        </p:nvSpPr>
        <p:spPr>
          <a:xfrm>
            <a:off x="1447800" y="53149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F6F82"/>
                </a:solidFill>
                <a:latin typeface="Aptos"/>
                <a:ea typeface="Aptos"/>
                <a:cs typeface="Aptos"/>
              </a:rPr>
              <a:t>LB -&gt; Web : TCP 80 </a:t>
            </a:r>
            <a:r>
              <a:rPr sz="900" b="0" dirty="0" err="1">
                <a:solidFill>
                  <a:srgbClr val="5F6F82"/>
                </a:solidFill>
                <a:latin typeface="Aptos"/>
                <a:ea typeface="Aptos"/>
                <a:cs typeface="Aptos"/>
              </a:rPr>
              <a:t>허용</a:t>
            </a:r>
            <a:r>
              <a:rPr sz="900" b="0" dirty="0">
                <a:solidFill>
                  <a:srgbClr val="5F6F82"/>
                </a:solidFill>
                <a:latin typeface="Aptos"/>
                <a:ea typeface="Aptos"/>
                <a:cs typeface="Aptos"/>
              </a:rPr>
              <a:t>  |  Web -&gt; Cloud DB : TCP 3306 </a:t>
            </a:r>
            <a:r>
              <a:rPr sz="900" b="0" dirty="0" err="1">
                <a:solidFill>
                  <a:srgbClr val="5F6F82"/>
                </a:solidFill>
                <a:latin typeface="Aptos"/>
                <a:ea typeface="Aptos"/>
                <a:cs typeface="Aptos"/>
              </a:rPr>
              <a:t>허용</a:t>
            </a:r>
            <a:r>
              <a:rPr sz="900" b="0" dirty="0">
                <a:solidFill>
                  <a:srgbClr val="5F6F82"/>
                </a:solidFill>
                <a:latin typeface="Aptos"/>
                <a:ea typeface="Aptos"/>
                <a:cs typeface="Aptos"/>
              </a:rPr>
              <a:t>  |  </a:t>
            </a:r>
            <a:r>
              <a:rPr sz="900" b="0" dirty="0" err="1">
                <a:solidFill>
                  <a:srgbClr val="5F6F82"/>
                </a:solidFill>
                <a:latin typeface="Aptos"/>
                <a:ea typeface="Aptos"/>
                <a:cs typeface="Aptos"/>
              </a:rPr>
              <a:t>SSH는</a:t>
            </a:r>
            <a:r>
              <a:rPr sz="900" b="0" dirty="0">
                <a:solidFill>
                  <a:srgbClr val="5F6F82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5F6F82"/>
                </a:solidFill>
                <a:latin typeface="Aptos"/>
                <a:ea typeface="Aptos"/>
                <a:cs typeface="Aptos"/>
              </a:rPr>
              <a:t>관리자</a:t>
            </a:r>
            <a:r>
              <a:rPr sz="900" b="0" dirty="0">
                <a:solidFill>
                  <a:srgbClr val="5F6F82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5F6F82"/>
                </a:solidFill>
                <a:latin typeface="Aptos"/>
                <a:ea typeface="Aptos"/>
                <a:cs typeface="Aptos"/>
              </a:rPr>
              <a:t>IP만</a:t>
            </a:r>
            <a:endParaRPr sz="900" b="0" dirty="0">
              <a:solidFill>
                <a:srgbClr val="5F6F8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monitoring">
            <a:extLst>
              <a:ext uri="{FF2B5EF4-FFF2-40B4-BE49-F238E27FC236}">
                <a16:creationId xmlns:a16="http://schemas.microsoft.com/office/drawing/2014/main" id="{A0AF905C-3F8E-4464-8104-8C7DCE27F9F9}"/>
              </a:ext>
            </a:extLst>
          </p:cNvPr>
          <p:cNvSpPr>
            <a:spLocks noGrp="1"/>
          </p:cNvSpPr>
          <p:nvPr/>
        </p:nvSpPr>
        <p:spPr>
          <a:xfrm>
            <a:off x="6134100" y="4953000"/>
            <a:ext cx="47434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1" name="그림 90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305550" y="5124450"/>
            <a:ext cx="323850" cy="323850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35944EF8-E83A-4DB0-9CC4-2BF6F1DFC8B0}"/>
              </a:ext>
            </a:extLst>
          </p:cNvPr>
          <p:cNvSpPr>
            <a:spLocks noGrp="1"/>
          </p:cNvSpPr>
          <p:nvPr/>
        </p:nvSpPr>
        <p:spPr>
          <a:xfrm>
            <a:off x="6724650" y="506730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633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3342"/>
                </a:solidFill>
                <a:latin typeface="Aptos"/>
                <a:ea typeface="Aptos"/>
                <a:cs typeface="Aptos"/>
              </a:rPr>
              <a:t>운영 확인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C1ABE68-2814-49B5-830A-8A131898266B}"/>
              </a:ext>
            </a:extLst>
          </p:cNvPr>
          <p:cNvSpPr>
            <a:spLocks noGrp="1"/>
          </p:cNvSpPr>
          <p:nvPr/>
        </p:nvSpPr>
        <p:spPr>
          <a:xfrm>
            <a:off x="6724650" y="53149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F6F82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F6F82"/>
                </a:solidFill>
                <a:latin typeface="Aptos"/>
                <a:ea typeface="Aptos"/>
                <a:cs typeface="Aptos"/>
              </a:rPr>
              <a:t>web-01/web-02 UP, HTTP/200 </a:t>
            </a:r>
            <a:r>
              <a:rPr sz="900" b="0" dirty="0" err="1">
                <a:solidFill>
                  <a:srgbClr val="5F6F82"/>
                </a:solidFill>
                <a:latin typeface="Aptos"/>
                <a:ea typeface="Aptos"/>
                <a:cs typeface="Aptos"/>
              </a:rPr>
              <a:t>확인</a:t>
            </a:r>
            <a:r>
              <a:rPr sz="900" b="0" dirty="0">
                <a:solidFill>
                  <a:srgbClr val="5F6F82"/>
                </a:solidFill>
                <a:latin typeface="Aptos"/>
                <a:ea typeface="Aptos"/>
                <a:cs typeface="Aptos"/>
              </a:rPr>
              <a:t>  |  </a:t>
            </a:r>
            <a:r>
              <a:rPr sz="900" b="0" dirty="0" err="1">
                <a:solidFill>
                  <a:srgbClr val="5F6F82"/>
                </a:solidFill>
                <a:latin typeface="Aptos"/>
                <a:ea typeface="Aptos"/>
                <a:cs typeface="Aptos"/>
              </a:rPr>
              <a:t>공통</a:t>
            </a:r>
            <a:r>
              <a:rPr sz="900" b="0" dirty="0">
                <a:solidFill>
                  <a:srgbClr val="5F6F82"/>
                </a:solidFill>
                <a:latin typeface="Aptos"/>
                <a:ea typeface="Aptos"/>
                <a:cs typeface="Aptos"/>
              </a:rPr>
              <a:t> Cloud DB </a:t>
            </a:r>
            <a:r>
              <a:rPr sz="900" b="0" dirty="0" err="1">
                <a:solidFill>
                  <a:srgbClr val="5F6F82"/>
                </a:solidFill>
                <a:latin typeface="Aptos"/>
                <a:ea typeface="Aptos"/>
                <a:cs typeface="Aptos"/>
              </a:rPr>
              <a:t>연결</a:t>
            </a:r>
            <a:r>
              <a:rPr sz="900" b="0" dirty="0">
                <a:solidFill>
                  <a:srgbClr val="5F6F82"/>
                </a:solidFill>
                <a:latin typeface="Aptos"/>
                <a:ea typeface="Aptos"/>
                <a:cs typeface="Aptos"/>
              </a:rPr>
              <a:t> PDO OK</a:t>
            </a:r>
          </a:p>
        </p:txBody>
      </p:sp>
      <p:sp>
        <p:nvSpPr>
          <p:cNvPr id="44" name="down-arrow-users-lb">
            <a:extLst>
              <a:ext uri="{FF2B5EF4-FFF2-40B4-BE49-F238E27FC236}">
                <a16:creationId xmlns:a16="http://schemas.microsoft.com/office/drawing/2014/main" id="{B66F9CB6-AEF9-4FF4-8475-6B930AB9389A}"/>
              </a:ext>
            </a:extLst>
          </p:cNvPr>
          <p:cNvSpPr>
            <a:spLocks noGrp="1"/>
          </p:cNvSpPr>
          <p:nvPr/>
        </p:nvSpPr>
        <p:spPr>
          <a:xfrm>
            <a:off x="2038350" y="2724150"/>
            <a:ext cx="209550" cy="285750"/>
          </a:xfrm>
          <a:prstGeom prst="downArrow">
            <a:avLst/>
          </a:prstGeom>
          <a:solidFill>
            <a:srgbClr val="4F6E88"/>
          </a:solidFill>
          <a:ln w="0">
            <a:solidFill>
              <a:srgbClr val="4F6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arrow-lb-web">
            <a:extLst>
              <a:ext uri="{FF2B5EF4-FFF2-40B4-BE49-F238E27FC236}">
                <a16:creationId xmlns:a16="http://schemas.microsoft.com/office/drawing/2014/main" id="{7558675B-7383-460D-AB1C-91F7E8CBEEC5}"/>
              </a:ext>
            </a:extLst>
          </p:cNvPr>
          <p:cNvSpPr>
            <a:spLocks noGrp="1"/>
          </p:cNvSpPr>
          <p:nvPr/>
        </p:nvSpPr>
        <p:spPr>
          <a:xfrm>
            <a:off x="3390900" y="3076575"/>
            <a:ext cx="666750" cy="190500"/>
          </a:xfrm>
          <a:prstGeom prst="rightArrow">
            <a:avLst/>
          </a:prstGeom>
          <a:solidFill>
            <a:srgbClr val="4F6E88"/>
          </a:solidFill>
          <a:ln w="0">
            <a:solidFill>
              <a:srgbClr val="4F6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D79708D-0B02-414F-BE76-276838769536}"/>
              </a:ext>
            </a:extLst>
          </p:cNvPr>
          <p:cNvSpPr>
            <a:spLocks noGrp="1"/>
          </p:cNvSpPr>
          <p:nvPr/>
        </p:nvSpPr>
        <p:spPr>
          <a:xfrm>
            <a:off x="3219450" y="2847975"/>
            <a:ext cx="1009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4F6E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6E88"/>
                </a:solidFill>
                <a:latin typeface="Aptos"/>
                <a:ea typeface="Aptos"/>
                <a:cs typeface="Aptos"/>
              </a:rPr>
              <a:t>HTTP :80</a:t>
            </a:r>
          </a:p>
        </p:txBody>
      </p:sp>
      <p:sp>
        <p:nvSpPr>
          <p:cNvPr id="47" name="arrow-web-db">
            <a:extLst>
              <a:ext uri="{FF2B5EF4-FFF2-40B4-BE49-F238E27FC236}">
                <a16:creationId xmlns:a16="http://schemas.microsoft.com/office/drawing/2014/main" id="{8B589571-F58A-4776-A5F8-ABCA78BC4F2F}"/>
              </a:ext>
            </a:extLst>
          </p:cNvPr>
          <p:cNvSpPr>
            <a:spLocks noGrp="1"/>
          </p:cNvSpPr>
          <p:nvPr/>
        </p:nvSpPr>
        <p:spPr>
          <a:xfrm>
            <a:off x="7886700" y="3076575"/>
            <a:ext cx="552450" cy="190500"/>
          </a:xfrm>
          <a:prstGeom prst="rightArrow">
            <a:avLst/>
          </a:prstGeom>
          <a:solidFill>
            <a:srgbClr val="8A572D"/>
          </a:solidFill>
          <a:ln w="0">
            <a:solidFill>
              <a:srgbClr val="8A57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27808F-0C0D-45FF-B442-5B84D8C22625}"/>
              </a:ext>
            </a:extLst>
          </p:cNvPr>
          <p:cNvSpPr>
            <a:spLocks noGrp="1"/>
          </p:cNvSpPr>
          <p:nvPr/>
        </p:nvSpPr>
        <p:spPr>
          <a:xfrm>
            <a:off x="7715250" y="2847975"/>
            <a:ext cx="895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8A57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572D"/>
                </a:solidFill>
                <a:latin typeface="Aptos"/>
                <a:ea typeface="Aptos"/>
                <a:cs typeface="Aptos"/>
              </a:rPr>
              <a:t>MySQL :3306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1634EAB-4D5B-439F-A2B8-1A2FF8A9F0FD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8A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8A8"/>
                </a:solidFill>
                <a:latin typeface="Aptos"/>
                <a:ea typeface="Aptos"/>
                <a:cs typeface="Aptos"/>
              </a:rPr>
              <a:t>Source style: NCP service icon reference deck  |  Architecture: LocalLive project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6113527-4F4E-4D58-A025-11AB0950BAC7}"/>
              </a:ext>
            </a:extLst>
          </p:cNvPr>
          <p:cNvSpPr>
            <a:spLocks noGrp="1"/>
          </p:cNvSpPr>
          <p:nvPr/>
        </p:nvSpPr>
        <p:spPr>
          <a:xfrm>
            <a:off x="10763250" y="63627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8A98A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8A8"/>
                </a:solidFill>
                <a:latin typeface="Aptos"/>
                <a:ea typeface="Aptos"/>
                <a:cs typeface="Aptos"/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199200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ublic-lb-subnet">
            <a:extLst>
              <a:ext uri="{FF2B5EF4-FFF2-40B4-BE49-F238E27FC236}">
                <a16:creationId xmlns:a16="http://schemas.microsoft.com/office/drawing/2014/main" id="{0AD58073-0C5A-8E16-AA78-EC977DD3AE2A}"/>
              </a:ext>
            </a:extLst>
          </p:cNvPr>
          <p:cNvSpPr>
            <a:spLocks noGrp="1"/>
          </p:cNvSpPr>
          <p:nvPr/>
        </p:nvSpPr>
        <p:spPr>
          <a:xfrm>
            <a:off x="3330144" y="1095749"/>
            <a:ext cx="4814292" cy="5378251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1430">
            <a:solidFill>
              <a:srgbClr val="B8D9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그림 6" descr="텍스트, 접시이(가) 표시된 사진&#10;&#10;자동 생성된 설명">
            <a:extLst>
              <a:ext uri="{FF2B5EF4-FFF2-40B4-BE49-F238E27FC236}">
                <a16:creationId xmlns:a16="http://schemas.microsoft.com/office/drawing/2014/main" id="{95397CBC-B414-63A5-A521-606D2263B6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988" y="1401189"/>
            <a:ext cx="275871" cy="275871"/>
          </a:xfrm>
          <a:prstGeom prst="rect">
            <a:avLst/>
          </a:prstGeom>
        </p:spPr>
      </p:pic>
      <p:sp>
        <p:nvSpPr>
          <p:cNvPr id="8" name="public-web-subnet">
            <a:extLst>
              <a:ext uri="{FF2B5EF4-FFF2-40B4-BE49-F238E27FC236}">
                <a16:creationId xmlns:a16="http://schemas.microsoft.com/office/drawing/2014/main" id="{D37170C5-337C-4249-AE00-E5FF05926B21}"/>
              </a:ext>
            </a:extLst>
          </p:cNvPr>
          <p:cNvSpPr>
            <a:spLocks noGrp="1"/>
          </p:cNvSpPr>
          <p:nvPr/>
        </p:nvSpPr>
        <p:spPr>
          <a:xfrm>
            <a:off x="4242707" y="1888671"/>
            <a:ext cx="3132364" cy="2239736"/>
          </a:xfrm>
          <a:prstGeom prst="roundRect">
            <a:avLst>
              <a:gd name="adj" fmla="val 3774"/>
            </a:avLst>
          </a:prstGeom>
          <a:solidFill>
            <a:srgbClr val="F4FBF7"/>
          </a:solidFill>
          <a:ln w="11430">
            <a:solidFill>
              <a:srgbClr val="BFE5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web-01">
            <a:extLst>
              <a:ext uri="{FF2B5EF4-FFF2-40B4-BE49-F238E27FC236}">
                <a16:creationId xmlns:a16="http://schemas.microsoft.com/office/drawing/2014/main" id="{3E73B59D-C49F-9258-A239-0287429C0519}"/>
              </a:ext>
            </a:extLst>
          </p:cNvPr>
          <p:cNvSpPr>
            <a:spLocks noGrp="1"/>
          </p:cNvSpPr>
          <p:nvPr/>
        </p:nvSpPr>
        <p:spPr>
          <a:xfrm>
            <a:off x="4388302" y="2533650"/>
            <a:ext cx="13335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9AD2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web-01">
            <a:extLst>
              <a:ext uri="{FF2B5EF4-FFF2-40B4-BE49-F238E27FC236}">
                <a16:creationId xmlns:a16="http://schemas.microsoft.com/office/drawing/2014/main" id="{C02F92B2-4BA6-0BC2-9F80-B3B900CA4F46}"/>
              </a:ext>
            </a:extLst>
          </p:cNvPr>
          <p:cNvSpPr>
            <a:spLocks noGrp="1"/>
          </p:cNvSpPr>
          <p:nvPr/>
        </p:nvSpPr>
        <p:spPr>
          <a:xfrm>
            <a:off x="5906860" y="2533650"/>
            <a:ext cx="13335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9AD2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B87216-E5D4-EAA4-1DD9-4CA3FD8EC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11461" y="2827564"/>
            <a:ext cx="361950" cy="36195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9F8C305-2FB9-BD92-64AA-CD0D3A04D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0" y="2827564"/>
            <a:ext cx="361950" cy="36195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92B135-3DE4-FB9C-032D-AB9B992DD3B1}"/>
              </a:ext>
            </a:extLst>
          </p:cNvPr>
          <p:cNvSpPr>
            <a:spLocks noGrp="1"/>
          </p:cNvSpPr>
          <p:nvPr/>
        </p:nvSpPr>
        <p:spPr>
          <a:xfrm>
            <a:off x="4961165" y="2876549"/>
            <a:ext cx="704849" cy="2639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513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F5137"/>
                </a:solidFill>
                <a:latin typeface="Aptos"/>
                <a:ea typeface="Aptos"/>
                <a:cs typeface="Aptos"/>
              </a:rPr>
              <a:t>web-01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04C1010-C38F-C2FC-6C01-471383B43890}"/>
              </a:ext>
            </a:extLst>
          </p:cNvPr>
          <p:cNvSpPr>
            <a:spLocks noGrp="1"/>
          </p:cNvSpPr>
          <p:nvPr/>
        </p:nvSpPr>
        <p:spPr>
          <a:xfrm>
            <a:off x="6467829" y="2868385"/>
            <a:ext cx="704849" cy="2639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513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F5137"/>
                </a:solidFill>
                <a:latin typeface="Aptos"/>
                <a:ea typeface="Aptos"/>
                <a:cs typeface="Aptos"/>
              </a:rPr>
              <a:t>web-0</a:t>
            </a:r>
            <a:r>
              <a:rPr lang="en-US" sz="1200" b="1" dirty="0">
                <a:solidFill>
                  <a:srgbClr val="1F5137"/>
                </a:solidFill>
                <a:latin typeface="Aptos"/>
                <a:ea typeface="Aptos"/>
                <a:cs typeface="Aptos"/>
              </a:rPr>
              <a:t>2</a:t>
            </a:r>
            <a:endParaRPr sz="1200" b="1" dirty="0">
              <a:solidFill>
                <a:srgbClr val="1F51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Box 101">
            <a:extLst>
              <a:ext uri="{FF2B5EF4-FFF2-40B4-BE49-F238E27FC236}">
                <a16:creationId xmlns:a16="http://schemas.microsoft.com/office/drawing/2014/main" id="{1D01021B-E97A-174C-ABD5-58F249C00A16}"/>
              </a:ext>
            </a:extLst>
          </p:cNvPr>
          <p:cNvSpPr txBox="1"/>
          <p:nvPr/>
        </p:nvSpPr>
        <p:spPr>
          <a:xfrm>
            <a:off x="5906859" y="457238"/>
            <a:ext cx="621539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algn="r">
              <a:lnSpc>
                <a:spcPts val="1000"/>
              </a:lnSpc>
            </a:pPr>
            <a:r>
              <a:rPr kumimoji="1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Users</a:t>
            </a:r>
            <a:endParaRPr kumimoji="1" lang="ko-KR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CC7F52A-7093-4A05-A2F4-5A118746B2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864" y="404608"/>
            <a:ext cx="406799" cy="406799"/>
          </a:xfrm>
          <a:prstGeom prst="rect">
            <a:avLst/>
          </a:prstGeom>
        </p:spPr>
      </p:pic>
      <p:sp>
        <p:nvSpPr>
          <p:cNvPr id="21" name="TextBox 76">
            <a:extLst>
              <a:ext uri="{FF2B5EF4-FFF2-40B4-BE49-F238E27FC236}">
                <a16:creationId xmlns:a16="http://schemas.microsoft.com/office/drawing/2014/main" id="{6B99C171-1726-5F46-AEA0-4F8AFACC326B}"/>
              </a:ext>
            </a:extLst>
          </p:cNvPr>
          <p:cNvSpPr txBox="1"/>
          <p:nvPr/>
        </p:nvSpPr>
        <p:spPr>
          <a:xfrm>
            <a:off x="5896327" y="1385275"/>
            <a:ext cx="10688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r>
              <a:rPr kumimoji="1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</a:t>
            </a:r>
            <a:r>
              <a:rPr kumimoji="1"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Balancer</a:t>
            </a:r>
            <a:endParaRPr kumimoji="1" lang="ko-KR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96">
            <a:extLst>
              <a:ext uri="{FF2B5EF4-FFF2-40B4-BE49-F238E27FC236}">
                <a16:creationId xmlns:a16="http://schemas.microsoft.com/office/drawing/2014/main" id="{30DC88EA-93B3-0840-A3E2-60DDDDFBA6F7}"/>
              </a:ext>
            </a:extLst>
          </p:cNvPr>
          <p:cNvSpPr txBox="1"/>
          <p:nvPr/>
        </p:nvSpPr>
        <p:spPr>
          <a:xfrm>
            <a:off x="4346431" y="2130135"/>
            <a:ext cx="883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r>
              <a:rPr kumimoji="1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</a:t>
            </a:r>
            <a:r>
              <a:rPr kumimoji="1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Servers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2902647-A58D-C590-E9B5-00336E72E337}"/>
              </a:ext>
            </a:extLst>
          </p:cNvPr>
          <p:cNvCxnSpPr>
            <a:cxnSpLocks/>
          </p:cNvCxnSpPr>
          <p:nvPr/>
        </p:nvCxnSpPr>
        <p:spPr>
          <a:xfrm>
            <a:off x="5758264" y="912248"/>
            <a:ext cx="0" cy="354066"/>
          </a:xfrm>
          <a:prstGeom prst="straightConnector1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817710E-D8FF-926D-E72B-9DF9B7E27AC4}"/>
              </a:ext>
            </a:extLst>
          </p:cNvPr>
          <p:cNvCxnSpPr>
            <a:cxnSpLocks/>
          </p:cNvCxnSpPr>
          <p:nvPr/>
        </p:nvCxnSpPr>
        <p:spPr>
          <a:xfrm flipH="1">
            <a:off x="4973411" y="1761700"/>
            <a:ext cx="748390" cy="693029"/>
          </a:xfrm>
          <a:prstGeom prst="straightConnector1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rivate-db-subnet">
            <a:extLst>
              <a:ext uri="{FF2B5EF4-FFF2-40B4-BE49-F238E27FC236}">
                <a16:creationId xmlns:a16="http://schemas.microsoft.com/office/drawing/2014/main" id="{85454181-4C40-5AD7-2342-C588B8F8D008}"/>
              </a:ext>
            </a:extLst>
          </p:cNvPr>
          <p:cNvSpPr>
            <a:spLocks noGrp="1"/>
          </p:cNvSpPr>
          <p:nvPr/>
        </p:nvSpPr>
        <p:spPr>
          <a:xfrm>
            <a:off x="3589682" y="4773386"/>
            <a:ext cx="4191001" cy="1513114"/>
          </a:xfrm>
          <a:prstGeom prst="roundRect">
            <a:avLst>
              <a:gd name="adj" fmla="val 4286"/>
            </a:avLst>
          </a:prstGeom>
          <a:solidFill>
            <a:srgbClr val="F0F9FE"/>
          </a:solidFill>
          <a:ln w="11430">
            <a:solidFill>
              <a:srgbClr val="F3CFA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cloud-db">
            <a:extLst>
              <a:ext uri="{FF2B5EF4-FFF2-40B4-BE49-F238E27FC236}">
                <a16:creationId xmlns:a16="http://schemas.microsoft.com/office/drawing/2014/main" id="{BD42D454-692A-FE4B-00F0-36848AD15EF9}"/>
              </a:ext>
            </a:extLst>
          </p:cNvPr>
          <p:cNvSpPr>
            <a:spLocks noGrp="1"/>
          </p:cNvSpPr>
          <p:nvPr/>
        </p:nvSpPr>
        <p:spPr>
          <a:xfrm>
            <a:off x="4845501" y="4869343"/>
            <a:ext cx="17526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E7B27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F383691-0F4D-C8E3-47DF-0B6CF6E7BD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052" y="5382311"/>
            <a:ext cx="280800" cy="280800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C8EECDE0-E804-187D-3B29-DF4963D30B5C}"/>
              </a:ext>
            </a:extLst>
          </p:cNvPr>
          <p:cNvSpPr>
            <a:spLocks noGrp="1"/>
          </p:cNvSpPr>
          <p:nvPr/>
        </p:nvSpPr>
        <p:spPr>
          <a:xfrm>
            <a:off x="5389789" y="527270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421F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6D421F"/>
                </a:solidFill>
                <a:latin typeface="Aptos"/>
                <a:ea typeface="Aptos"/>
                <a:cs typeface="Aptos"/>
              </a:rPr>
              <a:t>Cloud DB for MySQL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0B3A49E-1C4D-FB1E-296C-57DF53C8E5D2}"/>
              </a:ext>
            </a:extLst>
          </p:cNvPr>
          <p:cNvCxnSpPr>
            <a:cxnSpLocks/>
          </p:cNvCxnSpPr>
          <p:nvPr/>
        </p:nvCxnSpPr>
        <p:spPr>
          <a:xfrm>
            <a:off x="5721801" y="3946071"/>
            <a:ext cx="0" cy="920124"/>
          </a:xfrm>
          <a:prstGeom prst="straightConnector1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91CDB0C-4C4F-87B1-E8B1-75C3729CC997}"/>
              </a:ext>
            </a:extLst>
          </p:cNvPr>
          <p:cNvSpPr txBox="1"/>
          <p:nvPr/>
        </p:nvSpPr>
        <p:spPr>
          <a:xfrm>
            <a:off x="3752347" y="5171423"/>
            <a:ext cx="7986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Cloud DB</a:t>
            </a:r>
          </a:p>
        </p:txBody>
      </p:sp>
      <p:sp>
        <p:nvSpPr>
          <p:cNvPr id="34" name="TextBox 96">
            <a:extLst>
              <a:ext uri="{FF2B5EF4-FFF2-40B4-BE49-F238E27FC236}">
                <a16:creationId xmlns:a16="http://schemas.microsoft.com/office/drawing/2014/main" id="{0F8AA294-E069-49A2-38E8-543357953F6E}"/>
              </a:ext>
            </a:extLst>
          </p:cNvPr>
          <p:cNvSpPr txBox="1"/>
          <p:nvPr/>
        </p:nvSpPr>
        <p:spPr>
          <a:xfrm>
            <a:off x="4222196" y="1771176"/>
            <a:ext cx="10688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r>
              <a:rPr kumimoji="1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subnet</a:t>
            </a:r>
          </a:p>
        </p:txBody>
      </p:sp>
      <p:sp>
        <p:nvSpPr>
          <p:cNvPr id="35" name="TextBox 96">
            <a:extLst>
              <a:ext uri="{FF2B5EF4-FFF2-40B4-BE49-F238E27FC236}">
                <a16:creationId xmlns:a16="http://schemas.microsoft.com/office/drawing/2014/main" id="{46B42DDC-A63B-DE48-E687-501ED5099870}"/>
              </a:ext>
            </a:extLst>
          </p:cNvPr>
          <p:cNvSpPr txBox="1"/>
          <p:nvPr/>
        </p:nvSpPr>
        <p:spPr>
          <a:xfrm>
            <a:off x="5906859" y="951057"/>
            <a:ext cx="10688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r>
              <a:rPr kumimoji="1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 80</a:t>
            </a:r>
          </a:p>
        </p:txBody>
      </p:sp>
      <p:sp>
        <p:nvSpPr>
          <p:cNvPr id="36" name="TextBox 96">
            <a:extLst>
              <a:ext uri="{FF2B5EF4-FFF2-40B4-BE49-F238E27FC236}">
                <a16:creationId xmlns:a16="http://schemas.microsoft.com/office/drawing/2014/main" id="{31743592-1E1F-A6E8-0486-0A442B0B6315}"/>
              </a:ext>
            </a:extLst>
          </p:cNvPr>
          <p:cNvSpPr txBox="1"/>
          <p:nvPr/>
        </p:nvSpPr>
        <p:spPr>
          <a:xfrm>
            <a:off x="5758264" y="4225085"/>
            <a:ext cx="10688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r>
              <a:rPr kumimoji="1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MySQL 3306</a:t>
            </a:r>
          </a:p>
        </p:txBody>
      </p:sp>
      <p:sp>
        <p:nvSpPr>
          <p:cNvPr id="38" name="TextBox 96">
            <a:extLst>
              <a:ext uri="{FF2B5EF4-FFF2-40B4-BE49-F238E27FC236}">
                <a16:creationId xmlns:a16="http://schemas.microsoft.com/office/drawing/2014/main" id="{40966B94-FAAC-C255-9353-E53683FD3409}"/>
              </a:ext>
            </a:extLst>
          </p:cNvPr>
          <p:cNvSpPr txBox="1"/>
          <p:nvPr/>
        </p:nvSpPr>
        <p:spPr>
          <a:xfrm>
            <a:off x="6216054" y="1903060"/>
            <a:ext cx="10688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r>
              <a:rPr kumimoji="1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 80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B028B936-6710-B2AC-A509-FAC076D4C17F}"/>
              </a:ext>
            </a:extLst>
          </p:cNvPr>
          <p:cNvCxnSpPr>
            <a:cxnSpLocks/>
          </p:cNvCxnSpPr>
          <p:nvPr/>
        </p:nvCxnSpPr>
        <p:spPr>
          <a:xfrm>
            <a:off x="5906859" y="1747803"/>
            <a:ext cx="641577" cy="706925"/>
          </a:xfrm>
          <a:prstGeom prst="straightConnector1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C9E718B-4F6D-9BAD-4AA0-E5D43951EDFA}"/>
              </a:ext>
            </a:extLst>
          </p:cNvPr>
          <p:cNvCxnSpPr>
            <a:cxnSpLocks/>
          </p:cNvCxnSpPr>
          <p:nvPr/>
        </p:nvCxnSpPr>
        <p:spPr>
          <a:xfrm>
            <a:off x="7741920" y="4145371"/>
            <a:ext cx="948095" cy="0"/>
          </a:xfrm>
          <a:prstGeom prst="straightConnector1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그림 55" descr="텍스트, 표지판이(가) 표시된 사진&#10;&#10;자동 생성된 설명">
            <a:extLst>
              <a:ext uri="{FF2B5EF4-FFF2-40B4-BE49-F238E27FC236}">
                <a16:creationId xmlns:a16="http://schemas.microsoft.com/office/drawing/2014/main" id="{B9BE6606-8A72-74C9-8D89-28B5F58C33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066" y="3947723"/>
            <a:ext cx="395296" cy="39529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CA1E192-1B3B-4A56-A1AC-13B5C9136DFC}"/>
              </a:ext>
            </a:extLst>
          </p:cNvPr>
          <p:cNvSpPr txBox="1"/>
          <p:nvPr/>
        </p:nvSpPr>
        <p:spPr>
          <a:xfrm>
            <a:off x="8762383" y="3685938"/>
            <a:ext cx="8226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" altLang="ko-KR" sz="900" b="1" dirty="0">
                <a:latin typeface="+mj-lt"/>
                <a:cs typeface="Arial" panose="020B0604020202020204" pitchFamily="34" charset="0"/>
              </a:rPr>
              <a:t>Basic Security</a:t>
            </a:r>
            <a:endParaRPr kumimoji="1" lang="ko-KR" altLang="en-US" sz="9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9" name="TextBox 96">
            <a:extLst>
              <a:ext uri="{FF2B5EF4-FFF2-40B4-BE49-F238E27FC236}">
                <a16:creationId xmlns:a16="http://schemas.microsoft.com/office/drawing/2014/main" id="{A8BB62D2-782C-C55B-B76C-69B0BCE8588E}"/>
              </a:ext>
            </a:extLst>
          </p:cNvPr>
          <p:cNvSpPr txBox="1"/>
          <p:nvPr/>
        </p:nvSpPr>
        <p:spPr>
          <a:xfrm>
            <a:off x="3440010" y="1163615"/>
            <a:ext cx="10688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r>
              <a:rPr kumimoji="1" lang="en-US" altLang="ko-KR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vpc</a:t>
            </a:r>
            <a:endParaRPr kumimoji="1"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Box 96">
            <a:extLst>
              <a:ext uri="{FF2B5EF4-FFF2-40B4-BE49-F238E27FC236}">
                <a16:creationId xmlns:a16="http://schemas.microsoft.com/office/drawing/2014/main" id="{0524FB77-C1AF-9C16-5684-B0C9493000D5}"/>
              </a:ext>
            </a:extLst>
          </p:cNvPr>
          <p:cNvSpPr txBox="1"/>
          <p:nvPr/>
        </p:nvSpPr>
        <p:spPr>
          <a:xfrm>
            <a:off x="3695284" y="4638511"/>
            <a:ext cx="10688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r>
              <a:rPr kumimoji="1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Private subnet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B38762-88BB-22A7-975C-1D80BB7623C6}"/>
              </a:ext>
            </a:extLst>
          </p:cNvPr>
          <p:cNvSpPr txBox="1"/>
          <p:nvPr/>
        </p:nvSpPr>
        <p:spPr>
          <a:xfrm>
            <a:off x="8902300" y="2660208"/>
            <a:ext cx="832233" cy="350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kumimoji="1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</a:t>
            </a:r>
          </a:p>
          <a:p>
            <a:pPr algn="ctr">
              <a:lnSpc>
                <a:spcPts val="1000"/>
              </a:lnSpc>
            </a:pPr>
            <a:r>
              <a:rPr kumimoji="1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Storage</a:t>
            </a:r>
            <a:endParaRPr kumimoji="1" lang="ko-KR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DDDF0F93-9F64-C575-5B6B-823E8444DDA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714" y="2344508"/>
            <a:ext cx="288000" cy="288000"/>
          </a:xfrm>
          <a:prstGeom prst="rect">
            <a:avLst/>
          </a:prstGeom>
        </p:spPr>
      </p:pic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302BB66-E5B2-8F08-E91A-935FECC8B815}"/>
              </a:ext>
            </a:extLst>
          </p:cNvPr>
          <p:cNvCxnSpPr>
            <a:cxnSpLocks/>
          </p:cNvCxnSpPr>
          <p:nvPr/>
        </p:nvCxnSpPr>
        <p:spPr>
          <a:xfrm>
            <a:off x="7196341" y="2486422"/>
            <a:ext cx="1566042" cy="0"/>
          </a:xfrm>
          <a:prstGeom prst="straightConnector1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4561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DocSecurity>0</DocSecurity>
  <PresentationFormat>와이드스크린</PresentationFormat>
  <Paragraphs>49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Aptos</vt:lpstr>
      <vt:lpstr>Calibri</vt:lpstr>
      <vt:lpstr>ChatGPT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혜린 조</cp:lastModifiedBy>
  <cp:revision>1</cp:revision>
  <dcterms:created xsi:type="dcterms:W3CDTF">2026-06-30T16:36:18Z</dcterms:created>
  <dcterms:modified xsi:type="dcterms:W3CDTF">2026-06-30T20:41:27Z</dcterms:modified>
</cp:coreProperties>
</file>